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f4add9ad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f4add9ad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f4add9add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f4add9add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c52ad2295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c52ad2295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f4add9add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f4add9add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f4add9add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f4add9add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c52ad2295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c52ad2295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52ad2295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c52ad2295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c52ad229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c52ad229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c5373da920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c5373da920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4add9add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f4add9add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f4add9add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f4add9add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f4add9add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f4add9add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f4add9add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f4add9add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f4add9add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f4add9add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f4add9add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f4add9add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f4add9add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f4add9add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f4add9add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f4add9add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f4add9addb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f4add9add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f4add9addb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f4add9add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jp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23.jp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2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993001" y="1481275"/>
            <a:ext cx="71580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Advances in eVTOL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Configurations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Vectored </a:t>
            </a:r>
            <a:r>
              <a:rPr lang="en"/>
              <a:t>thrust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Fixed motors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Ducted fans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Vectored rotors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1913" y="85700"/>
            <a:ext cx="4448175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6238" y="1730238"/>
            <a:ext cx="381952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700" y="2921038"/>
            <a:ext cx="26098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4425" y="3746269"/>
            <a:ext cx="4672025" cy="1165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L+C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327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Efficient motor sizing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Capable of traditional flight (recoverable)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Hybrid feasible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Disadvantages: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Drag and </a:t>
            </a:r>
            <a:r>
              <a:rPr lang="en"/>
              <a:t>weight</a:t>
            </a:r>
            <a:r>
              <a:rPr lang="en"/>
              <a:t> penalty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5569" l="7137" r="13118" t="12764"/>
          <a:stretch/>
        </p:blipFill>
        <p:spPr>
          <a:xfrm rot="5400000">
            <a:off x="5614100" y="-896299"/>
            <a:ext cx="2957825" cy="475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0000" y="2855550"/>
            <a:ext cx="3254001" cy="2645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L+C pusher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Open propeller or gas turbine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6849" y="-12"/>
            <a:ext cx="5347149" cy="434717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24362" y="1623186"/>
            <a:ext cx="2795951" cy="424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13028" r="0" t="675"/>
          <a:stretch/>
        </p:blipFill>
        <p:spPr>
          <a:xfrm rot="-5400000">
            <a:off x="2853237" y="-1783162"/>
            <a:ext cx="4507601" cy="807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b="6235" l="8517" r="0" t="0"/>
          <a:stretch/>
        </p:blipFill>
        <p:spPr>
          <a:xfrm rot="5400000">
            <a:off x="2195774" y="-1248138"/>
            <a:ext cx="4752450" cy="763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2064650" y="-1342162"/>
            <a:ext cx="5014700" cy="78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 rotWithShape="1">
          <a:blip r:embed="rId3">
            <a:alphaModFix/>
          </a:blip>
          <a:srcRect b="1220" l="3487" r="3765" t="7662"/>
          <a:stretch/>
        </p:blipFill>
        <p:spPr>
          <a:xfrm rot="-5400000">
            <a:off x="2078575" y="-1176301"/>
            <a:ext cx="4996151" cy="734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>
            <p:ph type="title"/>
          </p:nvPr>
        </p:nvSpPr>
        <p:spPr>
          <a:xfrm>
            <a:off x="902275" y="4267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body fuselage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18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L+C </a:t>
            </a:r>
            <a:r>
              <a:rPr lang="en"/>
              <a:t>Fixed </a:t>
            </a:r>
            <a:r>
              <a:rPr lang="en"/>
              <a:t>Open Rotors 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86550" y="757950"/>
            <a:ext cx="3846300" cy="41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L+C Fixed Open Rotors</a:t>
            </a:r>
            <a:br>
              <a:rPr lang="en"/>
            </a:br>
            <a:br>
              <a:rPr lang="en"/>
            </a:br>
            <a:r>
              <a:rPr lang="en"/>
              <a:t>2 cruise motors + 4 VTOL motors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ruise: </a:t>
            </a:r>
            <a:r>
              <a:rPr lang="en"/>
              <a:t>180 km/h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100% Electric: 3160 kg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50% Hybrid: 2320 kg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Advantages: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Efficient for cruise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Big payload volume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Traditional control surfaces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Disadvantages: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Drag caused by VTOL motors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Weight penalty by VTOL motors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 rotWithShape="1">
          <a:blip r:embed="rId3">
            <a:alphaModFix/>
          </a:blip>
          <a:srcRect b="29225" l="25704" r="29161" t="14883"/>
          <a:stretch/>
        </p:blipFill>
        <p:spPr>
          <a:xfrm>
            <a:off x="4279325" y="2"/>
            <a:ext cx="4483699" cy="385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8425" y="3856425"/>
            <a:ext cx="2455167" cy="107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9613" y="3715038"/>
            <a:ext cx="206692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Batteries</a:t>
            </a:r>
            <a:r>
              <a:rPr lang="en"/>
              <a:t> size / capacity</a:t>
            </a:r>
            <a:endParaRPr/>
          </a:p>
        </p:txBody>
      </p:sp>
      <p:sp>
        <p:nvSpPr>
          <p:cNvPr id="119" name="Google Shape;119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 rotWithShape="1">
          <a:blip r:embed="rId3">
            <a:alphaModFix/>
          </a:blip>
          <a:srcRect b="2486" l="0" r="0" t="0"/>
          <a:stretch/>
        </p:blipFill>
        <p:spPr>
          <a:xfrm rot="5400000">
            <a:off x="2198550" y="-1058163"/>
            <a:ext cx="4746899" cy="725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193538" y="-1158625"/>
            <a:ext cx="4756924" cy="74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/>
          <p:cNvPicPr preferRelativeResize="0"/>
          <p:nvPr/>
        </p:nvPicPr>
        <p:blipFill rotWithShape="1">
          <a:blip r:embed="rId3">
            <a:alphaModFix/>
          </a:blip>
          <a:srcRect b="-361" l="2723" r="0" t="0"/>
          <a:stretch/>
        </p:blipFill>
        <p:spPr>
          <a:xfrm rot="5400000">
            <a:off x="2261800" y="-1150049"/>
            <a:ext cx="4602525" cy="743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176450" y="-1185411"/>
            <a:ext cx="4791101" cy="7514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7"/>
          <p:cNvPicPr preferRelativeResize="0"/>
          <p:nvPr/>
        </p:nvPicPr>
        <p:blipFill rotWithShape="1">
          <a:blip r:embed="rId3">
            <a:alphaModFix/>
          </a:blip>
          <a:srcRect b="3372" l="0" r="0" t="0"/>
          <a:stretch/>
        </p:blipFill>
        <p:spPr>
          <a:xfrm rot="5400000">
            <a:off x="2247513" y="-951026"/>
            <a:ext cx="4648974" cy="704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L+C Ducted fans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34923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Advantages:</a:t>
            </a:r>
            <a:endParaRPr sz="1600"/>
          </a:p>
          <a:p>
            <a:pPr indent="-30734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600"/>
              <a:t>Quieter, and offer good opportunities for thrust vectoring</a:t>
            </a:r>
            <a:endParaRPr sz="1600"/>
          </a:p>
          <a:p>
            <a:pPr indent="-3073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600"/>
              <a:t>Blades more protected from external debris</a:t>
            </a:r>
            <a:endParaRPr sz="1600"/>
          </a:p>
          <a:p>
            <a:pPr indent="-3073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600"/>
              <a:t>Efficiency at Higher Speeds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Disadvantages:</a:t>
            </a:r>
            <a:endParaRPr sz="1600"/>
          </a:p>
          <a:p>
            <a:pPr indent="-30734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600"/>
              <a:t>Duct structure adds weight</a:t>
            </a:r>
            <a:endParaRPr sz="1600"/>
          </a:p>
          <a:p>
            <a:pPr indent="-3073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600"/>
              <a:t>Limited Effectiveness at Low Speeds</a:t>
            </a:r>
            <a:endParaRPr sz="1600"/>
          </a:p>
          <a:p>
            <a:pPr indent="-30734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600"/>
              <a:t>Design and Manufacturing Complexity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53" name="Google Shape;153;p28"/>
          <p:cNvPicPr preferRelativeResize="0"/>
          <p:nvPr/>
        </p:nvPicPr>
        <p:blipFill rotWithShape="1">
          <a:blip r:embed="rId3">
            <a:alphaModFix/>
          </a:blip>
          <a:srcRect b="43806" l="9840" r="45145" t="6762"/>
          <a:stretch/>
        </p:blipFill>
        <p:spPr>
          <a:xfrm>
            <a:off x="4718400" y="346038"/>
            <a:ext cx="2139600" cy="1762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8"/>
          <p:cNvPicPr preferRelativeResize="0"/>
          <p:nvPr/>
        </p:nvPicPr>
        <p:blipFill rotWithShape="1">
          <a:blip r:embed="rId4">
            <a:alphaModFix/>
          </a:blip>
          <a:srcRect b="15223" l="16689" r="14316" t="8125"/>
          <a:stretch/>
        </p:blipFill>
        <p:spPr>
          <a:xfrm>
            <a:off x="6858000" y="356450"/>
            <a:ext cx="2049376" cy="174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036775"/>
            <a:ext cx="2611375" cy="11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9175" y="3727001"/>
            <a:ext cx="2139600" cy="14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8"/>
          <p:cNvPicPr preferRelativeResize="0"/>
          <p:nvPr/>
        </p:nvPicPr>
        <p:blipFill rotWithShape="1">
          <a:blip r:embed="rId7">
            <a:alphaModFix/>
          </a:blip>
          <a:srcRect b="29683" l="14340" r="11929" t="16668"/>
          <a:stretch/>
        </p:blipFill>
        <p:spPr>
          <a:xfrm>
            <a:off x="4958775" y="2218300"/>
            <a:ext cx="3948602" cy="215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Vectored Thrust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Enhanced maneuverability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Higher efficiency in forward flight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Less weight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Disadvantages: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Vectored thrust adds complexity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3250" y="445025"/>
            <a:ext cx="4832325" cy="373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41175" y="150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Canard Vectored Thrust and EDF</a:t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762000"/>
            <a:ext cx="3811200" cy="4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195"/>
              <a:t>Advantages:</a:t>
            </a:r>
            <a:endParaRPr sz="1195"/>
          </a:p>
          <a:p>
            <a:pPr indent="-30448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95"/>
              <a:buChar char="-"/>
            </a:pPr>
            <a:r>
              <a:rPr lang="en" sz="1195"/>
              <a:t>Easy recovery and control in case of stall.</a:t>
            </a:r>
            <a:endParaRPr sz="1195"/>
          </a:p>
          <a:p>
            <a:pPr indent="-3044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95"/>
              <a:buChar char="-"/>
            </a:pPr>
            <a:r>
              <a:rPr lang="en" sz="1195"/>
              <a:t>Tiltable engines for VTOL to cruise transition.</a:t>
            </a:r>
            <a:endParaRPr sz="1195"/>
          </a:p>
          <a:p>
            <a:pPr indent="-3044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95"/>
              <a:buChar char="-"/>
            </a:pPr>
            <a:r>
              <a:rPr lang="en" sz="1195"/>
              <a:t>Pusher motor for conventional flight in case of lift motor failure.</a:t>
            </a:r>
            <a:endParaRPr sz="1195"/>
          </a:p>
          <a:p>
            <a:pPr indent="-3044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95"/>
              <a:buChar char="-"/>
            </a:pPr>
            <a:r>
              <a:rPr lang="en" sz="1195"/>
              <a:t>Wing loading similar to Cessna Skymaster.</a:t>
            </a:r>
            <a:endParaRPr sz="1195"/>
          </a:p>
          <a:p>
            <a:pPr indent="-3044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95"/>
              <a:buChar char="-"/>
            </a:pPr>
            <a:r>
              <a:rPr lang="en" sz="1195"/>
              <a:t>Easy passenger access.</a:t>
            </a:r>
            <a:endParaRPr sz="1195"/>
          </a:p>
          <a:p>
            <a:pPr indent="-3044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95"/>
              <a:buChar char="-"/>
            </a:pPr>
            <a:r>
              <a:rPr lang="en" sz="1195"/>
              <a:t>Wider cg range.</a:t>
            </a:r>
            <a:endParaRPr sz="11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195"/>
              <a:t>Disadvantages:</a:t>
            </a:r>
            <a:endParaRPr sz="1195"/>
          </a:p>
          <a:p>
            <a:pPr indent="-30448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95"/>
              <a:buChar char="-"/>
            </a:pPr>
            <a:r>
              <a:rPr lang="en" sz="1195"/>
              <a:t>Complexity in tilt system.</a:t>
            </a:r>
            <a:endParaRPr sz="1195"/>
          </a:p>
          <a:p>
            <a:pPr indent="-3044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95"/>
              <a:buChar char="-"/>
            </a:pPr>
            <a:r>
              <a:rPr lang="en" sz="1195"/>
              <a:t>Lower ground clearance, due propeller size.</a:t>
            </a:r>
            <a:endParaRPr sz="1195"/>
          </a:p>
          <a:p>
            <a:pPr indent="-3044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95"/>
              <a:buChar char="-"/>
            </a:pPr>
            <a:r>
              <a:rPr lang="en" sz="1195"/>
              <a:t>Acoustic problem in pusher motor.</a:t>
            </a:r>
            <a:endParaRPr sz="11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195"/>
              <a:t>Characteristics:</a:t>
            </a:r>
            <a:endParaRPr sz="1195"/>
          </a:p>
          <a:p>
            <a:pPr indent="-30448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95"/>
              <a:buChar char="-"/>
            </a:pPr>
            <a:r>
              <a:rPr lang="en" sz="1195"/>
              <a:t>Estimated weight: ~ 3300kg</a:t>
            </a:r>
            <a:endParaRPr sz="1195"/>
          </a:p>
          <a:p>
            <a:pPr indent="-3044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95"/>
              <a:buChar char="-"/>
            </a:pPr>
            <a:r>
              <a:rPr lang="en" sz="1195"/>
              <a:t>Payload capacity: ~ 400kg</a:t>
            </a:r>
            <a:endParaRPr sz="1195"/>
          </a:p>
          <a:p>
            <a:pPr indent="-3044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95"/>
              <a:buChar char="-"/>
            </a:pPr>
            <a:r>
              <a:rPr lang="en" sz="1195"/>
              <a:t>L/D: 13</a:t>
            </a:r>
            <a:endParaRPr sz="1195"/>
          </a:p>
        </p:txBody>
      </p:sp>
      <p:grpSp>
        <p:nvGrpSpPr>
          <p:cNvPr id="171" name="Google Shape;171;p30"/>
          <p:cNvGrpSpPr/>
          <p:nvPr/>
        </p:nvGrpSpPr>
        <p:grpSpPr>
          <a:xfrm>
            <a:off x="4122896" y="723150"/>
            <a:ext cx="4738878" cy="3845725"/>
            <a:chOff x="4199371" y="1072975"/>
            <a:chExt cx="4738878" cy="3845725"/>
          </a:xfrm>
        </p:grpSpPr>
        <p:pic>
          <p:nvPicPr>
            <p:cNvPr id="172" name="Google Shape;172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78075" y="1072975"/>
              <a:ext cx="3060174" cy="2266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99371" y="1082100"/>
              <a:ext cx="1678700" cy="2256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99375" y="3339075"/>
              <a:ext cx="4738874" cy="1579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257900" y="191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Vectored Open Propeller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782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67"/>
              <a:t>Advantages:</a:t>
            </a:r>
            <a:endParaRPr b="1" sz="1167"/>
          </a:p>
          <a:p>
            <a:pPr indent="-3027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67"/>
              <a:buChar char="●"/>
            </a:pPr>
            <a:r>
              <a:rPr lang="en" sz="1167"/>
              <a:t>Lightweight, simple and less expensive propellers</a:t>
            </a:r>
            <a:endParaRPr sz="1167"/>
          </a:p>
          <a:p>
            <a:pPr indent="-3027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67"/>
              <a:buChar char="●"/>
            </a:pPr>
            <a:r>
              <a:rPr lang="en" sz="1167"/>
              <a:t>Easy recovery and control in case of stall.</a:t>
            </a:r>
            <a:endParaRPr sz="1167"/>
          </a:p>
          <a:p>
            <a:pPr indent="-3027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67"/>
              <a:buChar char="●"/>
            </a:pPr>
            <a:r>
              <a:rPr lang="en" sz="1167"/>
              <a:t>Tiltable engines for VTOL to cruise transition.</a:t>
            </a:r>
            <a:endParaRPr sz="1167"/>
          </a:p>
          <a:p>
            <a:pPr indent="-3027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67"/>
              <a:buChar char="●"/>
            </a:pPr>
            <a:r>
              <a:rPr lang="en" sz="1167"/>
              <a:t>Wing loading similar to Cessna Skymaster.</a:t>
            </a:r>
            <a:endParaRPr sz="1167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7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67"/>
              <a:t>Disadvantages:</a:t>
            </a:r>
            <a:endParaRPr b="1" sz="1167"/>
          </a:p>
          <a:p>
            <a:pPr indent="-3027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67"/>
              <a:buChar char="●"/>
            </a:pPr>
            <a:r>
              <a:rPr lang="en" sz="1167"/>
              <a:t>Noisy due to open propellers</a:t>
            </a:r>
            <a:endParaRPr sz="1167"/>
          </a:p>
          <a:p>
            <a:pPr indent="-3027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67"/>
              <a:buChar char="●"/>
            </a:pPr>
            <a:r>
              <a:rPr lang="en" sz="1167"/>
              <a:t>Complexity in tilt system.</a:t>
            </a:r>
            <a:endParaRPr sz="1167"/>
          </a:p>
          <a:p>
            <a:pPr indent="-3027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67"/>
              <a:buChar char="●"/>
            </a:pPr>
            <a:r>
              <a:rPr lang="en" sz="1167"/>
              <a:t>Lower ground clearance, due propeller size.</a:t>
            </a:r>
            <a:endParaRPr sz="1167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7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67"/>
              <a:t>Characteristics:</a:t>
            </a:r>
            <a:endParaRPr b="1" sz="1167"/>
          </a:p>
          <a:p>
            <a:pPr indent="-3027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67"/>
              <a:buChar char="●"/>
            </a:pPr>
            <a:r>
              <a:rPr lang="en" sz="1167"/>
              <a:t>Estimated propellers needed: 6</a:t>
            </a:r>
            <a:endParaRPr sz="1167"/>
          </a:p>
          <a:p>
            <a:pPr indent="-3027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67"/>
              <a:buChar char="●"/>
            </a:pPr>
            <a:r>
              <a:rPr lang="en" sz="1167"/>
              <a:t>Wingspan: 11.6 m</a:t>
            </a:r>
            <a:endParaRPr sz="1167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3">
            <a:alphaModFix/>
          </a:blip>
          <a:srcRect b="0" l="-7290" r="7290" t="0"/>
          <a:stretch/>
        </p:blipFill>
        <p:spPr>
          <a:xfrm>
            <a:off x="4792700" y="148225"/>
            <a:ext cx="3985801" cy="34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9350" y="3795650"/>
            <a:ext cx="2657700" cy="8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738" y="3795650"/>
            <a:ext cx="2713325" cy="114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 txBox="1"/>
          <p:nvPr/>
        </p:nvSpPr>
        <p:spPr>
          <a:xfrm>
            <a:off x="1085550" y="3372550"/>
            <a:ext cx="13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50% Hybrid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3840350" y="3426350"/>
            <a:ext cx="13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All electric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914475" y="445025"/>
            <a:ext cx="217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Fully electric</a:t>
            </a:r>
            <a:endParaRPr/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11700" y="1152475"/>
            <a:ext cx="402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Electricity Cost:</a:t>
            </a:r>
            <a:r>
              <a:rPr lang="en" sz="1600"/>
              <a:t> $0.13 per kWh      </a:t>
            </a:r>
            <a:r>
              <a:rPr b="1" lang="en" sz="1600"/>
              <a:t>Energy Consumption: </a:t>
            </a:r>
            <a:r>
              <a:rPr lang="en" sz="1600"/>
              <a:t>200 Wh per km</a:t>
            </a:r>
            <a:br>
              <a:rPr lang="en" sz="1600"/>
            </a:br>
            <a:r>
              <a:rPr b="1" lang="en" sz="1600"/>
              <a:t>Maintenance Costs:</a:t>
            </a:r>
            <a:r>
              <a:rPr lang="en" sz="1600"/>
              <a:t> 1.5% of the initial vehicle cost per year</a:t>
            </a:r>
            <a:br>
              <a:rPr lang="en" sz="1600"/>
            </a:br>
            <a:r>
              <a:rPr b="1" lang="en" sz="1600"/>
              <a:t>Initial Vehicle Cost:</a:t>
            </a:r>
            <a:r>
              <a:rPr lang="en" sz="1600"/>
              <a:t> $1.2 million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Range limited to &lt;150-180 km</a:t>
            </a:r>
            <a:endParaRPr sz="1600"/>
          </a:p>
        </p:txBody>
      </p:sp>
      <p:sp>
        <p:nvSpPr>
          <p:cNvPr id="192" name="Google Shape;192;p32"/>
          <p:cNvSpPr txBox="1"/>
          <p:nvPr>
            <p:ph type="title"/>
          </p:nvPr>
        </p:nvSpPr>
        <p:spPr>
          <a:xfrm>
            <a:off x="4018050" y="445025"/>
            <a:ext cx="64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vs.</a:t>
            </a:r>
            <a:endParaRPr/>
          </a:p>
        </p:txBody>
      </p:sp>
      <p:sp>
        <p:nvSpPr>
          <p:cNvPr id="193" name="Google Shape;193;p32"/>
          <p:cNvSpPr txBox="1"/>
          <p:nvPr>
            <p:ph type="title"/>
          </p:nvPr>
        </p:nvSpPr>
        <p:spPr>
          <a:xfrm>
            <a:off x="5902425" y="445025"/>
            <a:ext cx="178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</a:t>
            </a:r>
            <a:endParaRPr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4895850" y="1085500"/>
            <a:ext cx="409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SAF Cost: </a:t>
            </a:r>
            <a:r>
              <a:rPr lang="en" sz="1600"/>
              <a:t>$5 per gallon                </a:t>
            </a:r>
            <a:br>
              <a:rPr lang="en" sz="1600"/>
            </a:br>
            <a:r>
              <a:rPr b="1" lang="en" sz="1600"/>
              <a:t>Energy Consumption:</a:t>
            </a:r>
            <a:r>
              <a:rPr lang="en" sz="1600"/>
              <a:t>150 Wh per km from electricity + 0.8 liters per km from fuel</a:t>
            </a:r>
            <a:br>
              <a:rPr lang="en" sz="1600"/>
            </a:br>
            <a:r>
              <a:rPr b="1" lang="en" sz="1600"/>
              <a:t>Maintenance Costs:</a:t>
            </a:r>
            <a:r>
              <a:rPr lang="en" sz="1600"/>
              <a:t> 2.5% of the initial vehicle cost per year</a:t>
            </a:r>
            <a:br>
              <a:rPr lang="en" sz="1600"/>
            </a:br>
            <a:r>
              <a:rPr b="1" lang="en" sz="1600"/>
              <a:t>Initial Vehicle Cost:</a:t>
            </a:r>
            <a:r>
              <a:rPr lang="en" sz="1600"/>
              <a:t> $1.5 million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Range limited to &lt;600 km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5" name="Google Shape;195;p32"/>
          <p:cNvSpPr txBox="1"/>
          <p:nvPr/>
        </p:nvSpPr>
        <p:spPr>
          <a:xfrm>
            <a:off x="659975" y="3643300"/>
            <a:ext cx="36165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$0.18 per passenger mile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4895850" y="3643300"/>
            <a:ext cx="36165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$</a:t>
            </a:r>
            <a:r>
              <a:rPr lang="en" sz="2200">
                <a:solidFill>
                  <a:srgbClr val="FF0000"/>
                </a:solidFill>
              </a:rPr>
              <a:t>0.69</a:t>
            </a:r>
            <a:r>
              <a:rPr lang="en" sz="2200">
                <a:solidFill>
                  <a:srgbClr val="FF0000"/>
                </a:solidFill>
              </a:rPr>
              <a:t> per passenger mile</a:t>
            </a:r>
            <a:endParaRPr sz="2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